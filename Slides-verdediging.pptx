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2" r:id="rId3"/>
    <p:sldId id="294" r:id="rId4"/>
    <p:sldId id="257" r:id="rId5"/>
    <p:sldId id="258" r:id="rId6"/>
    <p:sldId id="290" r:id="rId7"/>
    <p:sldId id="295" r:id="rId8"/>
    <p:sldId id="293" r:id="rId9"/>
    <p:sldId id="291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7" r:id="rId19"/>
    <p:sldId id="310" r:id="rId20"/>
    <p:sldId id="308" r:id="rId21"/>
    <p:sldId id="309" r:id="rId22"/>
    <p:sldId id="305" r:id="rId23"/>
    <p:sldId id="306" r:id="rId24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>
      <p:cViewPr varScale="1">
        <p:scale>
          <a:sx n="95" d="100"/>
          <a:sy n="95" d="100"/>
        </p:scale>
        <p:origin x="108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1959" y="904450"/>
            <a:ext cx="593598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 u="heavy">
                <a:solidFill>
                  <a:srgbClr val="1E64C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rgbClr val="1E64C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rgbClr val="1E64C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rgbClr val="1E64C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2215" y="5586360"/>
            <a:ext cx="1383336" cy="11065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1959" y="904450"/>
            <a:ext cx="516826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 u="heavy">
                <a:solidFill>
                  <a:srgbClr val="1E64C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6751" y="1530565"/>
            <a:ext cx="9039225" cy="4351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iaYicbzAqiYR4rz4HvdvmITUWqyCfhD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850900"/>
            <a:ext cx="10546884" cy="4735195"/>
            <a:chOff x="430699" y="850900"/>
            <a:chExt cx="10116185" cy="4735195"/>
          </a:xfrm>
        </p:grpSpPr>
        <p:sp>
          <p:nvSpPr>
            <p:cNvPr id="3" name="object 3"/>
            <p:cNvSpPr/>
            <p:nvPr/>
          </p:nvSpPr>
          <p:spPr>
            <a:xfrm>
              <a:off x="700370" y="1685368"/>
              <a:ext cx="9843135" cy="3896360"/>
            </a:xfrm>
            <a:custGeom>
              <a:avLst/>
              <a:gdLst/>
              <a:ahLst/>
              <a:cxnLst/>
              <a:rect l="l" t="t" r="r" b="b"/>
              <a:pathLst>
                <a:path w="9843135" h="3896360">
                  <a:moveTo>
                    <a:pt x="9842532" y="0"/>
                  </a:moveTo>
                  <a:lnTo>
                    <a:pt x="0" y="0"/>
                  </a:lnTo>
                  <a:lnTo>
                    <a:pt x="0" y="3896343"/>
                  </a:lnTo>
                  <a:lnTo>
                    <a:pt x="9842532" y="3896343"/>
                  </a:lnTo>
                  <a:lnTo>
                    <a:pt x="9842532" y="0"/>
                  </a:lnTo>
                  <a:close/>
                </a:path>
              </a:pathLst>
            </a:custGeom>
            <a:solidFill>
              <a:srgbClr val="1E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0370" y="1685368"/>
              <a:ext cx="9843135" cy="3896360"/>
            </a:xfrm>
            <a:custGeom>
              <a:avLst/>
              <a:gdLst/>
              <a:ahLst/>
              <a:cxnLst/>
              <a:rect l="l" t="t" r="r" b="b"/>
              <a:pathLst>
                <a:path w="9843135" h="3896360">
                  <a:moveTo>
                    <a:pt x="0" y="0"/>
                  </a:moveTo>
                  <a:lnTo>
                    <a:pt x="9842532" y="0"/>
                  </a:lnTo>
                  <a:lnTo>
                    <a:pt x="9842532" y="3896343"/>
                  </a:lnTo>
                  <a:lnTo>
                    <a:pt x="0" y="3896343"/>
                  </a:lnTo>
                  <a:lnTo>
                    <a:pt x="0" y="0"/>
                  </a:lnTo>
                  <a:close/>
                </a:path>
              </a:pathLst>
            </a:custGeom>
            <a:ln w="7607">
              <a:solidFill>
                <a:srgbClr val="134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699" y="850900"/>
              <a:ext cx="2226265" cy="8344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7014" y="2711450"/>
            <a:ext cx="9579758" cy="249234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7145" marR="5080">
              <a:lnSpc>
                <a:spcPts val="6600"/>
              </a:lnSpc>
              <a:spcBef>
                <a:spcPts val="815"/>
              </a:spcBef>
            </a:pPr>
            <a:r>
              <a:rPr lang="nl-BE" sz="6000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Projectverdediging</a:t>
            </a:r>
            <a:br>
              <a:rPr lang="nl-BE" sz="6000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</a:br>
            <a:r>
              <a:rPr lang="nl-BE" sz="6000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MVP</a:t>
            </a:r>
            <a:endParaRPr sz="6000" dirty="0"/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lang="nl-BE" sz="1800" u="none" dirty="0">
                <a:solidFill>
                  <a:srgbClr val="FFD200"/>
                </a:solidFill>
              </a:rPr>
              <a:t>Group 15</a:t>
            </a:r>
            <a:br>
              <a:rPr lang="nl-BE" sz="1800" u="none" dirty="0">
                <a:solidFill>
                  <a:srgbClr val="FFD200"/>
                </a:solidFill>
              </a:rPr>
            </a:br>
            <a:r>
              <a:rPr lang="nl-BE" sz="1800" u="none" dirty="0">
                <a:solidFill>
                  <a:srgbClr val="FFD200"/>
                </a:solidFill>
              </a:rPr>
              <a:t>Maurits </a:t>
            </a:r>
            <a:r>
              <a:rPr lang="nl-BE" sz="1800" u="none" dirty="0" err="1">
                <a:solidFill>
                  <a:srgbClr val="FFD200"/>
                </a:solidFill>
              </a:rPr>
              <a:t>Ampe</a:t>
            </a:r>
            <a:r>
              <a:rPr lang="nl-BE" sz="1800" u="none" dirty="0">
                <a:solidFill>
                  <a:srgbClr val="FFD200"/>
                </a:solidFill>
              </a:rPr>
              <a:t>, Thomas Carlier, Riete De </a:t>
            </a:r>
            <a:r>
              <a:rPr lang="nl-BE" sz="1800" u="none" dirty="0" err="1">
                <a:solidFill>
                  <a:srgbClr val="FFD200"/>
                </a:solidFill>
              </a:rPr>
              <a:t>Rouck</a:t>
            </a:r>
            <a:r>
              <a:rPr lang="nl-BE" sz="1800" u="none" dirty="0">
                <a:solidFill>
                  <a:srgbClr val="FFD200"/>
                </a:solidFill>
              </a:rPr>
              <a:t>, </a:t>
            </a:r>
            <a:r>
              <a:rPr lang="nl-BE" sz="1800" u="none" dirty="0" err="1">
                <a:solidFill>
                  <a:srgbClr val="FFD200"/>
                </a:solidFill>
              </a:rPr>
              <a:t>Tiebe</a:t>
            </a:r>
            <a:r>
              <a:rPr lang="nl-BE" sz="1800" u="none" dirty="0">
                <a:solidFill>
                  <a:srgbClr val="FFD200"/>
                </a:solidFill>
              </a:rPr>
              <a:t> Roggeman &amp; </a:t>
            </a:r>
            <a:r>
              <a:rPr lang="nl-BE" sz="1800" u="none" dirty="0" err="1">
                <a:solidFill>
                  <a:srgbClr val="FFD200"/>
                </a:solidFill>
              </a:rPr>
              <a:t>Maxym</a:t>
            </a:r>
            <a:r>
              <a:rPr lang="nl-BE" sz="1800" u="none" dirty="0">
                <a:solidFill>
                  <a:srgbClr val="FFD200"/>
                </a:solidFill>
              </a:rPr>
              <a:t> Van Den Bogaert </a:t>
            </a:r>
            <a:endParaRPr sz="1800" dirty="0"/>
          </a:p>
        </p:txBody>
      </p:sp>
      <p:sp>
        <p:nvSpPr>
          <p:cNvPr id="7" name="object 7"/>
          <p:cNvSpPr/>
          <p:nvPr/>
        </p:nvSpPr>
        <p:spPr>
          <a:xfrm>
            <a:off x="5339593" y="1372483"/>
            <a:ext cx="1701800" cy="12700"/>
          </a:xfrm>
          <a:custGeom>
            <a:avLst/>
            <a:gdLst/>
            <a:ahLst/>
            <a:cxnLst/>
            <a:rect l="l" t="t" r="r" b="b"/>
            <a:pathLst>
              <a:path w="1701800" h="12700">
                <a:moveTo>
                  <a:pt x="1701799" y="0"/>
                </a:moveTo>
                <a:lnTo>
                  <a:pt x="0" y="0"/>
                </a:lnTo>
                <a:lnTo>
                  <a:pt x="0" y="12693"/>
                </a:lnTo>
                <a:lnTo>
                  <a:pt x="1701799" y="12693"/>
                </a:lnTo>
                <a:lnTo>
                  <a:pt x="17017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26893" y="1245669"/>
            <a:ext cx="17348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1E64C8"/>
                </a:solidFill>
                <a:latin typeface="Arial"/>
                <a:cs typeface="Arial"/>
              </a:rPr>
              <a:t>UGENT</a:t>
            </a:r>
            <a:r>
              <a:rPr sz="800" b="1" spc="135" dirty="0">
                <a:solidFill>
                  <a:srgbClr val="1E64C8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E64C8"/>
                </a:solidFill>
                <a:latin typeface="Arial"/>
                <a:cs typeface="Arial"/>
              </a:rPr>
              <a:t>BUSINESS</a:t>
            </a:r>
            <a:r>
              <a:rPr sz="800" b="1" spc="145" dirty="0">
                <a:solidFill>
                  <a:srgbClr val="1E64C8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E64C8"/>
                </a:solidFill>
                <a:latin typeface="Arial"/>
                <a:cs typeface="Arial"/>
              </a:rPr>
              <a:t>INFORMATICS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D1CD9D-7A08-FF88-105A-AF05858B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59" y="904450"/>
            <a:ext cx="5168265" cy="492443"/>
          </a:xfrm>
        </p:spPr>
        <p:txBody>
          <a:bodyPr/>
          <a:lstStyle/>
          <a:p>
            <a:r>
              <a:rPr lang="nl-BE" dirty="0"/>
              <a:t>Overzicht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BEA72A5-89E1-05BA-448E-79DE3D19C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51" y="1530565"/>
            <a:ext cx="9039225" cy="3877985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Introductie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Werkwijze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Functionaliteiten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Scalability 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7909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851E4-1920-C7F1-E6E3-21BB35D7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EA144-E6B7-93FF-CFB9-7A5FB8AF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59" y="904450"/>
            <a:ext cx="5168265" cy="492443"/>
          </a:xfrm>
        </p:spPr>
        <p:txBody>
          <a:bodyPr/>
          <a:lstStyle/>
          <a:p>
            <a:r>
              <a:rPr lang="nl-BE" dirty="0"/>
              <a:t>Overzicht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4683420-74A6-4B0A-A677-29DDAB151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51" y="1530565"/>
            <a:ext cx="9039225" cy="3877985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b="1" dirty="0" err="1"/>
              <a:t>Introductie</a:t>
            </a:r>
            <a:endParaRPr lang="en-US" b="1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Werkwijze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Functionaliteiten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Scalability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3839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6566" y="847096"/>
            <a:ext cx="9850755" cy="4739005"/>
            <a:chOff x="696566" y="847096"/>
            <a:chExt cx="9850755" cy="4739005"/>
          </a:xfrm>
        </p:grpSpPr>
        <p:sp>
          <p:nvSpPr>
            <p:cNvPr id="3" name="object 3"/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9842532" y="0"/>
                  </a:moveTo>
                  <a:lnTo>
                    <a:pt x="0" y="0"/>
                  </a:lnTo>
                  <a:lnTo>
                    <a:pt x="0" y="4730812"/>
                  </a:lnTo>
                  <a:lnTo>
                    <a:pt x="9842532" y="4730812"/>
                  </a:lnTo>
                  <a:lnTo>
                    <a:pt x="9842532" y="0"/>
                  </a:lnTo>
                  <a:close/>
                </a:path>
              </a:pathLst>
            </a:custGeom>
            <a:solidFill>
              <a:srgbClr val="1E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0" y="0"/>
                  </a:moveTo>
                  <a:lnTo>
                    <a:pt x="9842532" y="0"/>
                  </a:lnTo>
                  <a:lnTo>
                    <a:pt x="9842532" y="4730812"/>
                  </a:lnTo>
                  <a:lnTo>
                    <a:pt x="0" y="4730812"/>
                  </a:lnTo>
                  <a:lnTo>
                    <a:pt x="0" y="0"/>
                  </a:lnTo>
                  <a:close/>
                </a:path>
              </a:pathLst>
            </a:custGeom>
            <a:ln w="7607">
              <a:solidFill>
                <a:srgbClr val="134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8195" y="4474857"/>
            <a:ext cx="693674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z="6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Introductie</a:t>
            </a:r>
            <a:endParaRPr lang="nl-BE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dirty="0"/>
              <a:t>Externe partner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6751" y="1530565"/>
            <a:ext cx="5380990" cy="2489142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900" dirty="0">
                <a:latin typeface="Arial MT"/>
                <a:cs typeface="Arial MT"/>
              </a:rPr>
              <a:t>Fit Out Padel </a:t>
            </a:r>
            <a:r>
              <a:rPr lang="en-US" sz="2900" dirty="0" err="1">
                <a:latin typeface="Arial MT"/>
                <a:cs typeface="Arial MT"/>
              </a:rPr>
              <a:t>te</a:t>
            </a:r>
            <a:r>
              <a:rPr lang="en-US" sz="2900" dirty="0">
                <a:latin typeface="Arial MT"/>
                <a:cs typeface="Arial MT"/>
              </a:rPr>
              <a:t> </a:t>
            </a:r>
            <a:r>
              <a:rPr lang="en-US" sz="2900" dirty="0" err="1">
                <a:latin typeface="Arial MT"/>
                <a:cs typeface="Arial MT"/>
              </a:rPr>
              <a:t>Destelbergen</a:t>
            </a:r>
            <a:endParaRPr lang="en-US" sz="2900" dirty="0">
              <a:latin typeface="Arial MT"/>
              <a:cs typeface="Arial MT"/>
            </a:endParaRP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900" dirty="0">
                <a:latin typeface="Arial MT"/>
                <a:cs typeface="Arial MT"/>
              </a:rPr>
              <a:t>Indoor </a:t>
            </a:r>
            <a:r>
              <a:rPr lang="en-US" sz="2900" dirty="0" err="1">
                <a:latin typeface="Arial MT"/>
                <a:cs typeface="Arial MT"/>
              </a:rPr>
              <a:t>padelclub</a:t>
            </a:r>
            <a:endParaRPr lang="en-US" sz="2900" dirty="0">
              <a:latin typeface="Arial MT"/>
              <a:cs typeface="Arial MT"/>
            </a:endParaRP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900" dirty="0">
                <a:latin typeface="Arial MT"/>
                <a:cs typeface="Arial MT"/>
              </a:rPr>
              <a:t>Padel Academy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900" dirty="0" err="1">
                <a:latin typeface="Arial MT"/>
                <a:cs typeface="Arial MT"/>
              </a:rPr>
              <a:t>Groepslessen</a:t>
            </a:r>
            <a:endParaRPr lang="en-US" sz="2900" dirty="0">
              <a:latin typeface="Arial MT"/>
              <a:cs typeface="Arial MT"/>
            </a:endParaRP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sz="2900" dirty="0">
              <a:latin typeface="Arial MT"/>
              <a:cs typeface="Arial MT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0DE8993-355E-9FA9-78CB-57D47823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0" y="2330450"/>
            <a:ext cx="3096057" cy="1895740"/>
          </a:xfrm>
          <a:prstGeom prst="rect">
            <a:avLst/>
          </a:prstGeom>
        </p:spPr>
      </p:pic>
      <p:pic>
        <p:nvPicPr>
          <p:cNvPr id="1026" name="Picture 2" descr="Maak kennis met fitness bij Fit-out Destelbergen en Lochristi">
            <a:extLst>
              <a:ext uri="{FF2B5EF4-FFF2-40B4-BE49-F238E27FC236}">
                <a16:creationId xmlns:a16="http://schemas.microsoft.com/office/drawing/2014/main" id="{3E33860E-74D2-6094-77F4-1DDBD07C3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4713901"/>
            <a:ext cx="3096058" cy="20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3C135B-D1B4-A122-513D-16775273C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59" y="904450"/>
            <a:ext cx="5935980" cy="492443"/>
          </a:xfrm>
        </p:spPr>
        <p:txBody>
          <a:bodyPr/>
          <a:lstStyle/>
          <a:p>
            <a:r>
              <a:rPr lang="nl-BE" dirty="0"/>
              <a:t>Onze opdracht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09AA791-45BB-7768-02B1-98D05432CBE7}"/>
              </a:ext>
            </a:extLst>
          </p:cNvPr>
          <p:cNvSpPr txBox="1"/>
          <p:nvPr/>
        </p:nvSpPr>
        <p:spPr>
          <a:xfrm>
            <a:off x="691958" y="1644650"/>
            <a:ext cx="6254941" cy="1888978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900" dirty="0">
                <a:latin typeface="Arial MT"/>
                <a:cs typeface="Arial MT"/>
              </a:rPr>
              <a:t>CRM-</a:t>
            </a:r>
            <a:r>
              <a:rPr lang="en-US" sz="2900" dirty="0" err="1">
                <a:latin typeface="Arial MT"/>
                <a:cs typeface="Arial MT"/>
              </a:rPr>
              <a:t>systeem</a:t>
            </a:r>
            <a:r>
              <a:rPr lang="en-US" sz="2900" dirty="0">
                <a:latin typeface="Arial MT"/>
                <a:cs typeface="Arial MT"/>
              </a:rPr>
              <a:t> om de </a:t>
            </a:r>
            <a:r>
              <a:rPr lang="en-US" sz="2900" dirty="0" err="1">
                <a:latin typeface="Arial MT"/>
                <a:cs typeface="Arial MT"/>
              </a:rPr>
              <a:t>progressie</a:t>
            </a:r>
            <a:r>
              <a:rPr lang="en-US" sz="2900" dirty="0">
                <a:latin typeface="Arial MT"/>
                <a:cs typeface="Arial MT"/>
              </a:rPr>
              <a:t> van </a:t>
            </a:r>
            <a:r>
              <a:rPr lang="en-US" sz="2900" dirty="0" err="1">
                <a:latin typeface="Arial MT"/>
                <a:cs typeface="Arial MT"/>
              </a:rPr>
              <a:t>spelers</a:t>
            </a:r>
            <a:r>
              <a:rPr lang="en-US" sz="2900" dirty="0">
                <a:latin typeface="Arial MT"/>
                <a:cs typeface="Arial MT"/>
              </a:rPr>
              <a:t> </a:t>
            </a:r>
            <a:r>
              <a:rPr lang="en-US" sz="2900" dirty="0" err="1">
                <a:latin typeface="Arial MT"/>
                <a:cs typeface="Arial MT"/>
              </a:rPr>
              <a:t>bij</a:t>
            </a:r>
            <a:r>
              <a:rPr lang="en-US" sz="2900" dirty="0">
                <a:latin typeface="Arial MT"/>
                <a:cs typeface="Arial MT"/>
              </a:rPr>
              <a:t> </a:t>
            </a:r>
            <a:r>
              <a:rPr lang="en-US" sz="2900" dirty="0" err="1">
                <a:latin typeface="Arial MT"/>
                <a:cs typeface="Arial MT"/>
              </a:rPr>
              <a:t>te</a:t>
            </a:r>
            <a:r>
              <a:rPr lang="en-US" sz="2900" dirty="0">
                <a:latin typeface="Arial MT"/>
                <a:cs typeface="Arial MT"/>
              </a:rPr>
              <a:t> </a:t>
            </a:r>
            <a:r>
              <a:rPr lang="en-US" sz="2900" dirty="0" err="1">
                <a:latin typeface="Arial MT"/>
                <a:cs typeface="Arial MT"/>
              </a:rPr>
              <a:t>houden</a:t>
            </a:r>
            <a:r>
              <a:rPr lang="en-US" sz="2900" dirty="0">
                <a:latin typeface="Arial MT"/>
                <a:cs typeface="Arial MT"/>
              </a:rPr>
              <a:t> 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900" dirty="0">
                <a:latin typeface="Arial MT"/>
                <a:cs typeface="Arial MT"/>
              </a:rPr>
              <a:t>Matchen van </a:t>
            </a:r>
            <a:r>
              <a:rPr lang="en-US" sz="2900" dirty="0" err="1">
                <a:latin typeface="Arial MT"/>
                <a:cs typeface="Arial MT"/>
              </a:rPr>
              <a:t>spelers</a:t>
            </a:r>
            <a:r>
              <a:rPr lang="en-US" sz="2900" dirty="0">
                <a:latin typeface="Arial MT"/>
                <a:cs typeface="Arial MT"/>
              </a:rPr>
              <a:t> in </a:t>
            </a:r>
            <a:r>
              <a:rPr lang="en-US" sz="2900" dirty="0" err="1">
                <a:latin typeface="Arial MT"/>
                <a:cs typeface="Arial MT"/>
              </a:rPr>
              <a:t>groepslessen</a:t>
            </a:r>
            <a:r>
              <a:rPr lang="en-US" sz="2900" dirty="0">
                <a:latin typeface="Arial MT"/>
                <a:cs typeface="Arial MT"/>
              </a:rPr>
              <a:t> </a:t>
            </a:r>
          </a:p>
        </p:txBody>
      </p:sp>
      <p:pic>
        <p:nvPicPr>
          <p:cNvPr id="2050" name="Picture 2" descr="Home - Dokter Bekkevoort - Benno Martini">
            <a:extLst>
              <a:ext uri="{FF2B5EF4-FFF2-40B4-BE49-F238E27FC236}">
                <a16:creationId xmlns:a16="http://schemas.microsoft.com/office/drawing/2014/main" id="{A665A18F-EEDD-27F2-BC54-AEF43B76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00" y="1108075"/>
            <a:ext cx="25717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et optimaliseren van jouw voorraadbeheer voor het verkopen op bol.com: hoe  je jouw voorraad kunt beheren en tekorten kunt voorkomen. | Rylee blog">
            <a:extLst>
              <a:ext uri="{FF2B5EF4-FFF2-40B4-BE49-F238E27FC236}">
                <a16:creationId xmlns:a16="http://schemas.microsoft.com/office/drawing/2014/main" id="{58714576-BFFF-5705-AFF2-9C26D6A33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00" y="4000088"/>
            <a:ext cx="4813300" cy="240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28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FC8DD-A837-C69C-0EB9-047B26D1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66AB8B-60DF-F696-6FF9-E386447C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59" y="904450"/>
            <a:ext cx="5168265" cy="492443"/>
          </a:xfrm>
        </p:spPr>
        <p:txBody>
          <a:bodyPr/>
          <a:lstStyle/>
          <a:p>
            <a:r>
              <a:rPr lang="nl-BE" dirty="0"/>
              <a:t>Overzicht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AB2AFE3-7B9E-7E8A-5840-C74BC76E3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51" y="1530565"/>
            <a:ext cx="9039225" cy="3877985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Introductie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b="1" dirty="0" err="1"/>
              <a:t>Werkwijze</a:t>
            </a:r>
            <a:endParaRPr lang="en-US" b="1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Functionaliteiten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Scalability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056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49FD-1863-BAB0-9861-AC04935F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26E706B-F5B8-2456-A550-0E6DC553DC60}"/>
              </a:ext>
            </a:extLst>
          </p:cNvPr>
          <p:cNvGrpSpPr/>
          <p:nvPr/>
        </p:nvGrpSpPr>
        <p:grpSpPr>
          <a:xfrm>
            <a:off x="696566" y="847096"/>
            <a:ext cx="9850755" cy="4739005"/>
            <a:chOff x="696566" y="847096"/>
            <a:chExt cx="9850755" cy="47390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1CFA0E2-243A-BDF2-3BDA-512D7C231603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9842532" y="0"/>
                  </a:moveTo>
                  <a:lnTo>
                    <a:pt x="0" y="0"/>
                  </a:lnTo>
                  <a:lnTo>
                    <a:pt x="0" y="4730812"/>
                  </a:lnTo>
                  <a:lnTo>
                    <a:pt x="9842532" y="4730812"/>
                  </a:lnTo>
                  <a:lnTo>
                    <a:pt x="9842532" y="0"/>
                  </a:lnTo>
                  <a:close/>
                </a:path>
              </a:pathLst>
            </a:custGeom>
            <a:solidFill>
              <a:srgbClr val="1E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9B4F513-DC39-2517-0CFB-43F49F377DE4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0" y="0"/>
                  </a:moveTo>
                  <a:lnTo>
                    <a:pt x="9842532" y="0"/>
                  </a:lnTo>
                  <a:lnTo>
                    <a:pt x="9842532" y="4730812"/>
                  </a:lnTo>
                  <a:lnTo>
                    <a:pt x="0" y="4730812"/>
                  </a:lnTo>
                  <a:lnTo>
                    <a:pt x="0" y="0"/>
                  </a:lnTo>
                  <a:close/>
                </a:path>
              </a:pathLst>
            </a:custGeom>
            <a:ln w="7607">
              <a:solidFill>
                <a:srgbClr val="134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CF17203-B031-BC78-F168-CA39EF555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8195" y="4474857"/>
            <a:ext cx="693674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z="6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Werkwijze</a:t>
            </a:r>
            <a:endParaRPr lang="nl-BE" sz="6000" dirty="0"/>
          </a:p>
        </p:txBody>
      </p:sp>
    </p:spTree>
    <p:extLst>
      <p:ext uri="{BB962C8B-B14F-4D97-AF65-F5344CB8AC3E}">
        <p14:creationId xmlns:p14="http://schemas.microsoft.com/office/powerpoint/2010/main" val="26310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D75129-23DE-1678-16B4-21AD110D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1650"/>
            <a:ext cx="5168265" cy="492443"/>
          </a:xfrm>
        </p:spPr>
        <p:txBody>
          <a:bodyPr/>
          <a:lstStyle/>
          <a:p>
            <a:r>
              <a:rPr lang="nl-BE" dirty="0"/>
              <a:t>Hoe zijn we te werk gegaan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5DE4CA4-4C97-0A03-5155-97E4F6DAE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163792"/>
            <a:ext cx="9372599" cy="5760551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Kennismaking</a:t>
            </a:r>
            <a:r>
              <a:rPr lang="en-US" sz="2800" dirty="0"/>
              <a:t> met externe partner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/>
              <a:t>ERD-model </a:t>
            </a:r>
            <a:r>
              <a:rPr lang="en-US" sz="2800" dirty="0" err="1"/>
              <a:t>en</a:t>
            </a:r>
            <a:r>
              <a:rPr lang="en-US" sz="2800" dirty="0"/>
              <a:t> DDL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Uitwerking</a:t>
            </a:r>
            <a:r>
              <a:rPr lang="en-US" sz="2800" dirty="0"/>
              <a:t> database </a:t>
            </a:r>
            <a:r>
              <a:rPr lang="en-US" sz="2800" dirty="0" err="1"/>
              <a:t>Supabase</a:t>
            </a:r>
            <a:endParaRPr lang="en-US" sz="2800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/>
              <a:t>Simple user interface prototype met Lovable </a:t>
            </a:r>
            <a:r>
              <a:rPr lang="en-US" sz="2800" dirty="0">
                <a:sym typeface="Wingdings" panose="05000000000000000000" pitchFamily="2" charset="2"/>
              </a:rPr>
              <a:t>Sprint 1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>
                <a:sym typeface="Wingdings" panose="05000000000000000000" pitchFamily="2" charset="2"/>
              </a:rPr>
              <a:t>Programmeren</a:t>
            </a:r>
            <a:r>
              <a:rPr lang="en-US" sz="2800" dirty="0">
                <a:sym typeface="Wingdings" panose="05000000000000000000" pitchFamily="2" charset="2"/>
              </a:rPr>
              <a:t> in VSC </a:t>
            </a:r>
            <a:r>
              <a:rPr lang="en-US" sz="2800" dirty="0" err="1">
                <a:sym typeface="Wingdings" panose="05000000000000000000" pitchFamily="2" charset="2"/>
              </a:rPr>
              <a:t>eerste</a:t>
            </a: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versie</a:t>
            </a:r>
            <a:r>
              <a:rPr lang="en-US" sz="2800" dirty="0">
                <a:sym typeface="Wingdings" panose="05000000000000000000" pitchFamily="2" charset="2"/>
              </a:rPr>
              <a:t> Sprint 2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>
                <a:sym typeface="Wingdings" panose="05000000000000000000" pitchFamily="2" charset="2"/>
              </a:rPr>
              <a:t>Aanpassingen</a:t>
            </a:r>
            <a:r>
              <a:rPr lang="en-US" sz="2800" dirty="0">
                <a:sym typeface="Wingdings" panose="05000000000000000000" pitchFamily="2" charset="2"/>
              </a:rPr>
              <a:t> op basis van feedback &amp; best practices 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>
                <a:sym typeface="Wingdings" panose="05000000000000000000" pitchFamily="2" charset="2"/>
              </a:rPr>
              <a:t>Laatste</a:t>
            </a:r>
            <a:r>
              <a:rPr lang="en-US" sz="2800" dirty="0">
                <a:sym typeface="Wingdings" panose="05000000000000000000" pitchFamily="2" charset="2"/>
              </a:rPr>
              <a:t> details </a:t>
            </a:r>
            <a:r>
              <a:rPr lang="en-US" sz="2800" dirty="0" err="1">
                <a:sym typeface="Wingdings" panose="05000000000000000000" pitchFamily="2" charset="2"/>
              </a:rPr>
              <a:t>aanpassen</a:t>
            </a:r>
            <a:r>
              <a:rPr lang="en-US" sz="2800" dirty="0">
                <a:sym typeface="Wingdings" panose="05000000000000000000" pitchFamily="2" charset="2"/>
              </a:rPr>
              <a:t> + lay-out Sprint 3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64E6C4E-FD50-9022-F8CB-CE197F8DB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0" y="4845050"/>
            <a:ext cx="5236135" cy="202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7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BF538-3584-6564-FB9C-E93AA7B5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B16284-881B-CCE0-DCE8-0DEDBD9CA1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dirty="0"/>
              <a:t>ERD</a:t>
            </a:r>
            <a:endParaRPr spc="-25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B9B6283-9BE7-1DEE-A7E9-FB51A866237B}"/>
              </a:ext>
            </a:extLst>
          </p:cNvPr>
          <p:cNvSpPr txBox="1"/>
          <p:nvPr/>
        </p:nvSpPr>
        <p:spPr>
          <a:xfrm>
            <a:off x="546100" y="1644649"/>
            <a:ext cx="899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>
              <a:lnSpc>
                <a:spcPct val="100000"/>
              </a:lnSpc>
              <a:spcBef>
                <a:spcPts val="409"/>
              </a:spcBef>
              <a:buSzPct val="72413"/>
              <a:tabLst>
                <a:tab pos="282575" algn="l"/>
              </a:tabLst>
            </a:pPr>
            <a:endParaRPr lang="en-US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3D4FDD4-613D-8E1C-B6E4-659FACAA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492250"/>
            <a:ext cx="984963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1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F096-A841-DD68-5640-417BB49E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AC7F30-B505-B050-7F34-DB53E1B7A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pc="-25" dirty="0"/>
              <a:t>UI prototype met </a:t>
            </a:r>
            <a:r>
              <a:rPr lang="nl-BE" spc="-25" dirty="0" err="1"/>
              <a:t>Lovable</a:t>
            </a:r>
            <a:endParaRPr spc="-25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B52DE0B-DD44-9CD8-621D-AB5A0691C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1720850"/>
            <a:ext cx="7785100" cy="545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30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A5AB-ACB9-79E1-2050-ED256F3A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D090CA-73B6-6129-8060-C3666B9CF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pc="-25" dirty="0"/>
              <a:t>UI prototype met </a:t>
            </a:r>
            <a:r>
              <a:rPr lang="nl-BE" spc="-25" dirty="0" err="1"/>
              <a:t>Lovable</a:t>
            </a:r>
            <a:endParaRPr spc="-25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87900B0-2827-C4DA-F11D-51D5995C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1720850"/>
            <a:ext cx="7240595" cy="520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00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8732-B95A-994F-431C-D277C6F1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059614-BA24-49C8-01B0-525F6C5B0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pc="-25" dirty="0"/>
              <a:t>UI prototype met </a:t>
            </a:r>
            <a:r>
              <a:rPr lang="nl-BE" spc="-25" dirty="0" err="1"/>
              <a:t>Lovable</a:t>
            </a:r>
            <a:endParaRPr spc="-25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FDCF7A7-34DA-3510-9B15-90814F892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568450"/>
            <a:ext cx="7543800" cy="541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81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C7986-6142-EF08-D1A9-E5D8D769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25F61-353B-99ED-AAFA-4338A81A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59" y="904450"/>
            <a:ext cx="5168265" cy="492443"/>
          </a:xfrm>
        </p:spPr>
        <p:txBody>
          <a:bodyPr/>
          <a:lstStyle/>
          <a:p>
            <a:r>
              <a:rPr lang="nl-BE" dirty="0"/>
              <a:t>Overzicht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858CF63-390D-DB6D-B0DA-75D8812CD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51" y="1530565"/>
            <a:ext cx="9039225" cy="3877985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Introductie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Werkwijze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b="1" dirty="0" err="1"/>
              <a:t>Functionaliteiten</a:t>
            </a:r>
            <a:r>
              <a:rPr lang="en-US" b="1" dirty="0"/>
              <a:t> app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Scalability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375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9698-CFCF-983E-7C41-35E83A98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3E6D753-E6ED-3AED-5AEB-74C559809666}"/>
              </a:ext>
            </a:extLst>
          </p:cNvPr>
          <p:cNvGrpSpPr/>
          <p:nvPr/>
        </p:nvGrpSpPr>
        <p:grpSpPr>
          <a:xfrm>
            <a:off x="696566" y="847096"/>
            <a:ext cx="9850755" cy="4739005"/>
            <a:chOff x="696566" y="847096"/>
            <a:chExt cx="9850755" cy="47390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0E0C2D3-984A-DF26-A560-C34B4FAAB978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9842532" y="0"/>
                  </a:moveTo>
                  <a:lnTo>
                    <a:pt x="0" y="0"/>
                  </a:lnTo>
                  <a:lnTo>
                    <a:pt x="0" y="4730812"/>
                  </a:lnTo>
                  <a:lnTo>
                    <a:pt x="9842532" y="4730812"/>
                  </a:lnTo>
                  <a:lnTo>
                    <a:pt x="9842532" y="0"/>
                  </a:lnTo>
                  <a:close/>
                </a:path>
              </a:pathLst>
            </a:custGeom>
            <a:solidFill>
              <a:srgbClr val="1E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7917D8F-1E92-A27A-EE57-169B4BF0FB37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0" y="0"/>
                  </a:moveTo>
                  <a:lnTo>
                    <a:pt x="9842532" y="0"/>
                  </a:lnTo>
                  <a:lnTo>
                    <a:pt x="9842532" y="4730812"/>
                  </a:lnTo>
                  <a:lnTo>
                    <a:pt x="0" y="4730812"/>
                  </a:lnTo>
                  <a:lnTo>
                    <a:pt x="0" y="0"/>
                  </a:lnTo>
                  <a:close/>
                </a:path>
              </a:pathLst>
            </a:custGeom>
            <a:ln w="7607">
              <a:solidFill>
                <a:srgbClr val="134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3D0B557-0BEC-1F45-5330-ED705FD4B4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8194" y="4474857"/>
            <a:ext cx="8340905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z="6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Functionaliteiten app</a:t>
            </a:r>
            <a:endParaRPr lang="nl-BE" sz="6000" dirty="0"/>
          </a:p>
        </p:txBody>
      </p:sp>
    </p:spTree>
    <p:extLst>
      <p:ext uri="{BB962C8B-B14F-4D97-AF65-F5344CB8AC3E}">
        <p14:creationId xmlns:p14="http://schemas.microsoft.com/office/powerpoint/2010/main" val="285580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43247-E250-B409-49CD-EE79EF4D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5EE80-E2A3-8A8C-7119-8023DD53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1650"/>
            <a:ext cx="7467600" cy="984885"/>
          </a:xfrm>
        </p:spPr>
        <p:txBody>
          <a:bodyPr/>
          <a:lstStyle/>
          <a:p>
            <a:r>
              <a:rPr lang="nl-BE" dirty="0"/>
              <a:t>Overzicht belangrijkste functionaliteiten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92E5690-9E9F-8FFB-0610-0883DDC85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500" y="1163792"/>
            <a:ext cx="10210800" cy="5693866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Registreren</a:t>
            </a:r>
            <a:r>
              <a:rPr lang="en-US" sz="2800" dirty="0"/>
              <a:t> </a:t>
            </a:r>
            <a:r>
              <a:rPr lang="en-US" sz="2800" dirty="0" err="1"/>
              <a:t>als</a:t>
            </a:r>
            <a:r>
              <a:rPr lang="en-US" sz="2800" dirty="0"/>
              <a:t> </a:t>
            </a:r>
            <a:r>
              <a:rPr lang="en-US" sz="2800" dirty="0" err="1"/>
              <a:t>speler</a:t>
            </a:r>
            <a:r>
              <a:rPr lang="en-US" sz="2800" dirty="0"/>
              <a:t> of coach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Beschikbaarheid</a:t>
            </a:r>
            <a:r>
              <a:rPr lang="en-US" sz="2800" dirty="0"/>
              <a:t> </a:t>
            </a:r>
            <a:r>
              <a:rPr lang="en-US" sz="2800" dirty="0" err="1"/>
              <a:t>instellen</a:t>
            </a:r>
            <a:r>
              <a:rPr lang="en-US" sz="2800" dirty="0"/>
              <a:t> </a:t>
            </a:r>
            <a:r>
              <a:rPr lang="en-US" sz="2800" dirty="0" err="1"/>
              <a:t>als</a:t>
            </a:r>
            <a:r>
              <a:rPr lang="en-US" sz="2800" dirty="0"/>
              <a:t> coach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/>
              <a:t>Lessen </a:t>
            </a:r>
            <a:r>
              <a:rPr lang="en-US" sz="2800" dirty="0" err="1"/>
              <a:t>aanvragen</a:t>
            </a:r>
            <a:r>
              <a:rPr lang="en-US" sz="2800" dirty="0"/>
              <a:t> </a:t>
            </a:r>
            <a:r>
              <a:rPr lang="en-US" sz="2800" dirty="0" err="1"/>
              <a:t>als</a:t>
            </a:r>
            <a:r>
              <a:rPr lang="en-US" sz="2800" dirty="0"/>
              <a:t> </a:t>
            </a:r>
            <a:r>
              <a:rPr lang="en-US" sz="2800" dirty="0" err="1"/>
              <a:t>speler</a:t>
            </a:r>
            <a:r>
              <a:rPr lang="en-US" sz="2800" dirty="0"/>
              <a:t> </a:t>
            </a:r>
            <a:r>
              <a:rPr lang="en-US" sz="2800" dirty="0" err="1"/>
              <a:t>bij</a:t>
            </a:r>
            <a:r>
              <a:rPr lang="en-US" sz="2800" dirty="0"/>
              <a:t> </a:t>
            </a:r>
            <a:r>
              <a:rPr lang="en-US" sz="2800" dirty="0" err="1"/>
              <a:t>bepaalde</a:t>
            </a:r>
            <a:r>
              <a:rPr lang="en-US" sz="2800" dirty="0"/>
              <a:t> coach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Groepslessen</a:t>
            </a:r>
            <a:r>
              <a:rPr lang="en-US" sz="2800" dirty="0"/>
              <a:t> </a:t>
            </a:r>
            <a:r>
              <a:rPr lang="en-US" sz="2800" dirty="0" err="1"/>
              <a:t>aanvragen</a:t>
            </a:r>
            <a:r>
              <a:rPr lang="en-US" sz="2800" dirty="0"/>
              <a:t> met </a:t>
            </a:r>
            <a:r>
              <a:rPr lang="en-US" sz="2800" dirty="0" err="1"/>
              <a:t>spelers</a:t>
            </a:r>
            <a:r>
              <a:rPr lang="en-US" sz="2800" dirty="0"/>
              <a:t> </a:t>
            </a:r>
            <a:r>
              <a:rPr lang="en-US" sz="2800" dirty="0" err="1"/>
              <a:t>gelijkaardig</a:t>
            </a:r>
            <a:r>
              <a:rPr lang="en-US" sz="2800" dirty="0"/>
              <a:t> </a:t>
            </a:r>
            <a:r>
              <a:rPr lang="en-US" sz="2800" dirty="0" err="1"/>
              <a:t>niveau</a:t>
            </a:r>
            <a:endParaRPr lang="en-US" sz="2800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Aanbevelingen</a:t>
            </a:r>
            <a:r>
              <a:rPr lang="en-US" sz="2800" dirty="0"/>
              <a:t> wat </a:t>
            </a:r>
            <a:r>
              <a:rPr lang="en-US" sz="2800" dirty="0" err="1"/>
              <a:t>beste</a:t>
            </a:r>
            <a:r>
              <a:rPr lang="en-US" sz="2800" dirty="0"/>
              <a:t> coach </a:t>
            </a:r>
            <a:r>
              <a:rPr lang="en-US" sz="2800" dirty="0" err="1"/>
              <a:t>voor</a:t>
            </a:r>
            <a:r>
              <a:rPr lang="en-US" sz="2800" dirty="0"/>
              <a:t> </a:t>
            </a:r>
            <a:r>
              <a:rPr lang="en-US" sz="2800" dirty="0" err="1"/>
              <a:t>bepaalde</a:t>
            </a:r>
            <a:r>
              <a:rPr lang="en-US" sz="2800" dirty="0"/>
              <a:t> </a:t>
            </a:r>
            <a:r>
              <a:rPr lang="en-US" sz="2800" dirty="0" err="1"/>
              <a:t>speler</a:t>
            </a:r>
            <a:r>
              <a:rPr lang="en-US" sz="2800" dirty="0"/>
              <a:t> is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/>
              <a:t>Lessen </a:t>
            </a:r>
            <a:r>
              <a:rPr lang="en-US" sz="2800" dirty="0" err="1"/>
              <a:t>beoordelen</a:t>
            </a:r>
            <a:r>
              <a:rPr lang="en-US" sz="2800" dirty="0"/>
              <a:t> </a:t>
            </a:r>
            <a:r>
              <a:rPr lang="en-US" sz="2800" dirty="0" err="1"/>
              <a:t>als</a:t>
            </a:r>
            <a:r>
              <a:rPr lang="en-US" sz="2800" dirty="0"/>
              <a:t> coach op basis van 4 </a:t>
            </a:r>
            <a:r>
              <a:rPr lang="en-US" sz="2800" dirty="0" err="1"/>
              <a:t>zaken</a:t>
            </a:r>
            <a:endParaRPr lang="en-US" sz="2800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Progressie</a:t>
            </a:r>
            <a:r>
              <a:rPr lang="en-US" sz="2800" dirty="0"/>
              <a:t> van je </a:t>
            </a:r>
            <a:r>
              <a:rPr lang="en-US" sz="2800" dirty="0" err="1"/>
              <a:t>spelers</a:t>
            </a:r>
            <a:r>
              <a:rPr lang="en-US" sz="2800" dirty="0"/>
              <a:t> </a:t>
            </a:r>
            <a:r>
              <a:rPr lang="en-US" sz="2800" dirty="0" err="1"/>
              <a:t>zien</a:t>
            </a:r>
            <a:r>
              <a:rPr lang="en-US" sz="2800" dirty="0"/>
              <a:t> </a:t>
            </a:r>
            <a:r>
              <a:rPr lang="en-US" sz="2800" dirty="0" err="1"/>
              <a:t>als</a:t>
            </a:r>
            <a:r>
              <a:rPr lang="en-US" sz="2800" dirty="0"/>
              <a:t> coach door </a:t>
            </a:r>
            <a:r>
              <a:rPr lang="en-US" sz="2800" dirty="0" err="1"/>
              <a:t>middel</a:t>
            </a:r>
            <a:r>
              <a:rPr lang="en-US" sz="2800" dirty="0"/>
              <a:t> van </a:t>
            </a:r>
            <a:r>
              <a:rPr lang="en-US" sz="2800" dirty="0" err="1"/>
              <a:t>evaluaties</a:t>
            </a:r>
            <a:r>
              <a:rPr lang="en-US" sz="2800" dirty="0"/>
              <a:t> </a:t>
            </a:r>
            <a:r>
              <a:rPr lang="en-US" sz="2800" dirty="0" err="1"/>
              <a:t>andere</a:t>
            </a:r>
            <a:r>
              <a:rPr lang="en-US" sz="2800" dirty="0"/>
              <a:t> coaches 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00324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441F-7546-5103-81CA-FFB45CA0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ABF22D-8A4F-33B7-91B9-5C3753A8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1650"/>
            <a:ext cx="5168265" cy="492443"/>
          </a:xfrm>
        </p:spPr>
        <p:txBody>
          <a:bodyPr/>
          <a:lstStyle/>
          <a:p>
            <a:r>
              <a:rPr lang="nl-BE" dirty="0"/>
              <a:t>Complexer algoritme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878CFEB-91B0-0469-2578-DA0E843FD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187450"/>
            <a:ext cx="9677400" cy="2836674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Aanbevelingen</a:t>
            </a:r>
            <a:r>
              <a:rPr lang="en-US" sz="2800" dirty="0"/>
              <a:t> </a:t>
            </a:r>
            <a:r>
              <a:rPr lang="en-US" sz="2800" dirty="0" err="1"/>
              <a:t>trainen</a:t>
            </a:r>
            <a:r>
              <a:rPr lang="en-US" sz="2800" dirty="0"/>
              <a:t> </a:t>
            </a:r>
            <a:r>
              <a:rPr lang="en-US" sz="2800" dirty="0" err="1"/>
              <a:t>bij</a:t>
            </a:r>
            <a:r>
              <a:rPr lang="en-US" sz="2800" dirty="0"/>
              <a:t> </a:t>
            </a:r>
            <a:r>
              <a:rPr lang="en-US" sz="2800" dirty="0" err="1"/>
              <a:t>een</a:t>
            </a:r>
            <a:r>
              <a:rPr lang="en-US" sz="2800" dirty="0"/>
              <a:t> </a:t>
            </a:r>
            <a:r>
              <a:rPr lang="en-US" sz="2800" dirty="0" err="1"/>
              <a:t>bepaalde</a:t>
            </a:r>
            <a:r>
              <a:rPr lang="en-US" sz="2800" dirty="0"/>
              <a:t> coach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/>
              <a:t>services.py</a:t>
            </a:r>
          </a:p>
          <a:p>
            <a:pPr marL="3175">
              <a:lnSpc>
                <a:spcPct val="100000"/>
              </a:lnSpc>
              <a:spcBef>
                <a:spcPts val="409"/>
              </a:spcBef>
              <a:buSzPct val="72413"/>
              <a:tabLst>
                <a:tab pos="282575" algn="l"/>
              </a:tabLst>
            </a:pPr>
            <a:endParaRPr lang="en-US" sz="2800" dirty="0"/>
          </a:p>
          <a:p>
            <a:pPr marL="3175">
              <a:lnSpc>
                <a:spcPct val="100000"/>
              </a:lnSpc>
              <a:spcBef>
                <a:spcPts val="409"/>
              </a:spcBef>
              <a:buSzPct val="72413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0D65B8D-E012-651A-9459-6B9090A1B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610" y="2178050"/>
            <a:ext cx="5805847" cy="454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57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CF6C-B086-F626-CF7F-56FFC3A8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DAAE2-2E38-7A76-B85A-17794AF0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1650"/>
            <a:ext cx="5168265" cy="492443"/>
          </a:xfrm>
        </p:spPr>
        <p:txBody>
          <a:bodyPr/>
          <a:lstStyle/>
          <a:p>
            <a:r>
              <a:rPr lang="nl-BE" dirty="0" err="1"/>
              <a:t>Responsiveness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24DC95B-C8AE-A6C4-E38E-ABCEEF115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187450"/>
            <a:ext cx="9677400" cy="3318857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/>
              <a:t>Computer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sz="2800" dirty="0" err="1"/>
              <a:t>Mobiele</a:t>
            </a:r>
            <a:r>
              <a:rPr lang="en-US" sz="2800" dirty="0"/>
              <a:t> devices (smartphone, tablet)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sz="2800" dirty="0"/>
          </a:p>
          <a:p>
            <a:pPr marL="3175">
              <a:lnSpc>
                <a:spcPct val="100000"/>
              </a:lnSpc>
              <a:spcBef>
                <a:spcPts val="409"/>
              </a:spcBef>
              <a:buSzPct val="72413"/>
              <a:tabLst>
                <a:tab pos="282575" algn="l"/>
              </a:tabLst>
            </a:pPr>
            <a:endParaRPr lang="en-US" sz="2800" dirty="0"/>
          </a:p>
          <a:p>
            <a:pPr marL="3175">
              <a:lnSpc>
                <a:spcPct val="100000"/>
              </a:lnSpc>
              <a:spcBef>
                <a:spcPts val="409"/>
              </a:spcBef>
              <a:buSzPct val="72413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  <p:pic>
        <p:nvPicPr>
          <p:cNvPr id="5" name="d570a7ee-3e4f-4042-aa1a-dd473444dde3">
            <a:hlinkClick r:id="" action="ppaction://media"/>
            <a:extLst>
              <a:ext uri="{FF2B5EF4-FFF2-40B4-BE49-F238E27FC236}">
                <a16:creationId xmlns:a16="http://schemas.microsoft.com/office/drawing/2014/main" id="{4DBE13AE-F265-3224-7481-B0FD136050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67410" y="382766"/>
            <a:ext cx="3051290" cy="659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5C03-E403-C92B-C697-F4CD1330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F99DF-2BCC-6883-3A8E-EBCB52D0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59" y="904450"/>
            <a:ext cx="5168265" cy="492443"/>
          </a:xfrm>
        </p:spPr>
        <p:txBody>
          <a:bodyPr/>
          <a:lstStyle/>
          <a:p>
            <a:r>
              <a:rPr lang="nl-BE" dirty="0"/>
              <a:t>Overzicht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F9B2E2A-0068-32EB-3A9E-3EBDB84E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51" y="1530565"/>
            <a:ext cx="9039225" cy="3877985"/>
          </a:xfrm>
        </p:spPr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Introductie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Werkwijze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 err="1"/>
              <a:t>Functionaliteiten</a:t>
            </a:r>
            <a:r>
              <a:rPr lang="en-US" b="1" dirty="0"/>
              <a:t> </a:t>
            </a:r>
            <a:r>
              <a:rPr lang="en-US" dirty="0"/>
              <a:t>app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b="1" dirty="0"/>
              <a:t>Scalability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19601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748B-0EC5-0C72-F601-A5DF167C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535A3CD-1908-D7B4-8903-6A67D689C1FD}"/>
              </a:ext>
            </a:extLst>
          </p:cNvPr>
          <p:cNvGrpSpPr/>
          <p:nvPr/>
        </p:nvGrpSpPr>
        <p:grpSpPr>
          <a:xfrm>
            <a:off x="696566" y="847096"/>
            <a:ext cx="9850755" cy="4739005"/>
            <a:chOff x="696566" y="847096"/>
            <a:chExt cx="9850755" cy="47390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DAB839B-5CB3-3732-591F-E4FC3BDE1202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9842532" y="0"/>
                  </a:moveTo>
                  <a:lnTo>
                    <a:pt x="0" y="0"/>
                  </a:lnTo>
                  <a:lnTo>
                    <a:pt x="0" y="4730812"/>
                  </a:lnTo>
                  <a:lnTo>
                    <a:pt x="9842532" y="4730812"/>
                  </a:lnTo>
                  <a:lnTo>
                    <a:pt x="9842532" y="0"/>
                  </a:lnTo>
                  <a:close/>
                </a:path>
              </a:pathLst>
            </a:custGeom>
            <a:solidFill>
              <a:srgbClr val="1E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B2B3F7C-C74E-551F-191F-AD8227FCD44E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0" y="0"/>
                  </a:moveTo>
                  <a:lnTo>
                    <a:pt x="9842532" y="0"/>
                  </a:lnTo>
                  <a:lnTo>
                    <a:pt x="9842532" y="4730812"/>
                  </a:lnTo>
                  <a:lnTo>
                    <a:pt x="0" y="4730812"/>
                  </a:lnTo>
                  <a:lnTo>
                    <a:pt x="0" y="0"/>
                  </a:lnTo>
                  <a:close/>
                </a:path>
              </a:pathLst>
            </a:custGeom>
            <a:ln w="7607">
              <a:solidFill>
                <a:srgbClr val="134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C0CA293-C10F-051C-AE8B-017D4022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8194" y="4474857"/>
            <a:ext cx="8340905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z="6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Scalability </a:t>
            </a:r>
            <a:endParaRPr lang="nl-BE" sz="6000" dirty="0"/>
          </a:p>
        </p:txBody>
      </p:sp>
    </p:spTree>
    <p:extLst>
      <p:ext uri="{BB962C8B-B14F-4D97-AF65-F5344CB8AC3E}">
        <p14:creationId xmlns:p14="http://schemas.microsoft.com/office/powerpoint/2010/main" val="1458666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034806-0042-A007-5987-B3E19838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585" y="776922"/>
            <a:ext cx="5411916" cy="1477328"/>
          </a:xfrm>
        </p:spPr>
        <p:txBody>
          <a:bodyPr/>
          <a:lstStyle/>
          <a:p>
            <a:r>
              <a:rPr lang="nl-NL" dirty="0"/>
              <a:t>Standalone applicatie naar geïntegreerde </a:t>
            </a:r>
            <a:r>
              <a:rPr lang="nl-NL" dirty="0" err="1"/>
              <a:t>coachingslaag</a:t>
            </a:r>
            <a:br>
              <a:rPr lang="nl-NL" dirty="0"/>
            </a:br>
            <a:endParaRPr lang="nl-US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1E21C051-FB84-3580-AE21-5BCE87B6BA36}"/>
              </a:ext>
            </a:extLst>
          </p:cNvPr>
          <p:cNvSpPr txBox="1"/>
          <p:nvPr/>
        </p:nvSpPr>
        <p:spPr>
          <a:xfrm>
            <a:off x="693674" y="2013664"/>
            <a:ext cx="8998141" cy="352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79400">
              <a:spcBef>
                <a:spcPts val="409"/>
              </a:spcBef>
              <a:buSzPct val="72413"/>
              <a:buFont typeface="Arial" panose="020B0604020202020204" pitchFamily="34" charset="0"/>
              <a:buChar char="—"/>
              <a:tabLst>
                <a:tab pos="282575" algn="l"/>
              </a:tabLst>
            </a:pP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Huidige applicatie focust bewust op coaching-logica en lesopvolging</a:t>
            </a:r>
          </a:p>
          <a:p>
            <a:pPr marL="282575" indent="-279400">
              <a:spcBef>
                <a:spcPts val="409"/>
              </a:spcBef>
              <a:buSzPct val="72413"/>
              <a:buFont typeface="Arial" panose="020B0604020202020204" pitchFamily="34" charset="0"/>
              <a:buChar char="—"/>
              <a:tabLst>
                <a:tab pos="282575" algn="l"/>
              </a:tabLst>
            </a:pP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Praktijkfeedback; integratie cruciaal voor opschaling</a:t>
            </a:r>
          </a:p>
          <a:p>
            <a:pPr marL="282575" indent="-279400">
              <a:spcBef>
                <a:spcPts val="409"/>
              </a:spcBef>
              <a:buSzPct val="72413"/>
              <a:buFont typeface="Arial" panose="020B0604020202020204" pitchFamily="34" charset="0"/>
              <a:buChar char="—"/>
              <a:tabLst>
                <a:tab pos="282575" algn="l"/>
              </a:tabLst>
            </a:pP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Volgende stap: API-integratie met bestaande platformen (</a:t>
            </a:r>
            <a:r>
              <a:rPr lang="nl-NL" sz="2400" dirty="0" err="1">
                <a:solidFill>
                  <a:schemeClr val="tx1"/>
                </a:solidFill>
                <a:latin typeface="Arial MT"/>
                <a:ea typeface="+mn-ea"/>
              </a:rPr>
              <a:t>Matchi</a:t>
            </a: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 / </a:t>
            </a:r>
            <a:r>
              <a:rPr lang="nl-NL" sz="2400" dirty="0" err="1">
                <a:solidFill>
                  <a:schemeClr val="tx1"/>
                </a:solidFill>
                <a:latin typeface="Arial MT"/>
                <a:ea typeface="+mn-ea"/>
              </a:rPr>
              <a:t>Matchable</a:t>
            </a: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)</a:t>
            </a:r>
          </a:p>
          <a:p>
            <a:pPr marL="282575" indent="-279400">
              <a:spcBef>
                <a:spcPts val="409"/>
              </a:spcBef>
              <a:buSzPct val="72413"/>
              <a:buFont typeface="Arial" panose="020B0604020202020204" pitchFamily="34" charset="0"/>
              <a:buChar char="—"/>
              <a:tabLst>
                <a:tab pos="282575" algn="l"/>
              </a:tabLst>
            </a:pP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Doel: geen dubbele administratie, minder menselijke fouten</a:t>
            </a:r>
          </a:p>
          <a:p>
            <a:pPr marL="282575" indent="-279400">
              <a:spcBef>
                <a:spcPts val="409"/>
              </a:spcBef>
              <a:buSzPct val="72413"/>
              <a:buFont typeface="Arial" panose="020B0604020202020204" pitchFamily="34" charset="0"/>
              <a:buChar char="—"/>
              <a:tabLst>
                <a:tab pos="282575" algn="l"/>
              </a:tabLst>
            </a:pPr>
            <a:r>
              <a:rPr lang="nl-NL" sz="2400" dirty="0">
                <a:solidFill>
                  <a:schemeClr val="tx1"/>
                </a:solidFill>
                <a:latin typeface="Arial MT"/>
                <a:ea typeface="+mn-ea"/>
              </a:rPr>
              <a:t>Applicatie evolueert naar een aanvullende laag bovenop bestaande systemen</a:t>
            </a:r>
          </a:p>
          <a:p>
            <a:endParaRPr lang="nl-US" dirty="0"/>
          </a:p>
        </p:txBody>
      </p:sp>
    </p:spTree>
    <p:extLst>
      <p:ext uri="{BB962C8B-B14F-4D97-AF65-F5344CB8AC3E}">
        <p14:creationId xmlns:p14="http://schemas.microsoft.com/office/powerpoint/2010/main" val="230866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362B-C93F-30A2-747A-AF5D2C51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7D754B-BF38-50D5-0E00-0E4A82264E75}"/>
              </a:ext>
            </a:extLst>
          </p:cNvPr>
          <p:cNvGrpSpPr/>
          <p:nvPr/>
        </p:nvGrpSpPr>
        <p:grpSpPr>
          <a:xfrm>
            <a:off x="696566" y="847096"/>
            <a:ext cx="9850755" cy="4739005"/>
            <a:chOff x="696566" y="847096"/>
            <a:chExt cx="9850755" cy="47390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F80AF11-34C5-23A3-8325-612CB9041509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9842532" y="0"/>
                  </a:moveTo>
                  <a:lnTo>
                    <a:pt x="0" y="0"/>
                  </a:lnTo>
                  <a:lnTo>
                    <a:pt x="0" y="4730812"/>
                  </a:lnTo>
                  <a:lnTo>
                    <a:pt x="9842532" y="4730812"/>
                  </a:lnTo>
                  <a:lnTo>
                    <a:pt x="9842532" y="0"/>
                  </a:lnTo>
                  <a:close/>
                </a:path>
              </a:pathLst>
            </a:custGeom>
            <a:solidFill>
              <a:srgbClr val="1E6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1AAF885-6112-6120-54B1-06269F8516E0}"/>
                </a:ext>
              </a:extLst>
            </p:cNvPr>
            <p:cNvSpPr/>
            <p:nvPr/>
          </p:nvSpPr>
          <p:spPr>
            <a:xfrm>
              <a:off x="700370" y="850900"/>
              <a:ext cx="9843135" cy="4731385"/>
            </a:xfrm>
            <a:custGeom>
              <a:avLst/>
              <a:gdLst/>
              <a:ahLst/>
              <a:cxnLst/>
              <a:rect l="l" t="t" r="r" b="b"/>
              <a:pathLst>
                <a:path w="9843135" h="4731385">
                  <a:moveTo>
                    <a:pt x="0" y="0"/>
                  </a:moveTo>
                  <a:lnTo>
                    <a:pt x="9842532" y="0"/>
                  </a:lnTo>
                  <a:lnTo>
                    <a:pt x="9842532" y="4730812"/>
                  </a:lnTo>
                  <a:lnTo>
                    <a:pt x="0" y="4730812"/>
                  </a:lnTo>
                  <a:lnTo>
                    <a:pt x="0" y="0"/>
                  </a:lnTo>
                  <a:close/>
                </a:path>
              </a:pathLst>
            </a:custGeom>
            <a:ln w="7607">
              <a:solidFill>
                <a:srgbClr val="134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CB36D3F9-97AC-5C08-4A70-2483A73EF4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8194" y="4474857"/>
            <a:ext cx="8340905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l-BE" sz="6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Demo</a:t>
            </a:r>
            <a:endParaRPr lang="nl-BE" sz="6000" dirty="0"/>
          </a:p>
        </p:txBody>
      </p:sp>
    </p:spTree>
    <p:extLst>
      <p:ext uri="{BB962C8B-B14F-4D97-AF65-F5344CB8AC3E}">
        <p14:creationId xmlns:p14="http://schemas.microsoft.com/office/powerpoint/2010/main" val="1750319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DEA8-8BFB-0D3B-BFD2-ED62B298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FDC34-9E4A-3D51-5507-9301DB1F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476" y="501650"/>
            <a:ext cx="5168265" cy="492443"/>
          </a:xfrm>
        </p:spPr>
        <p:txBody>
          <a:bodyPr/>
          <a:lstStyle/>
          <a:p>
            <a:r>
              <a:rPr lang="nl-BE" dirty="0"/>
              <a:t>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41EF4F5-D08D-4FB7-9BAF-48F9F5BEC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500" y="1163792"/>
            <a:ext cx="10210800" cy="4062258"/>
          </a:xfrm>
        </p:spPr>
        <p:txBody>
          <a:bodyPr/>
          <a:lstStyle/>
          <a:p>
            <a:pPr marL="3175">
              <a:lnSpc>
                <a:spcPct val="100000"/>
              </a:lnSpc>
              <a:spcBef>
                <a:spcPts val="409"/>
              </a:spcBef>
              <a:buSzPct val="72413"/>
              <a:tabLst>
                <a:tab pos="282575" algn="l"/>
              </a:tabLst>
            </a:pP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endParaRPr lang="en-US" dirty="0"/>
          </a:p>
          <a:p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EB8EF5D-078A-6DAC-A6A6-88CCCCB7BA28}"/>
              </a:ext>
            </a:extLst>
          </p:cNvPr>
          <p:cNvSpPr txBox="1"/>
          <p:nvPr/>
        </p:nvSpPr>
        <p:spPr>
          <a:xfrm>
            <a:off x="774700" y="1644650"/>
            <a:ext cx="929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hlinkClick r:id="rId2"/>
              </a:rPr>
              <a:t>https://drive.google.com/file/d/1yiaYicbzAqiYR4rz4HvdvmITUWqyCfhD/view?usp=sharing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67737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299</Words>
  <Application>Microsoft Office PowerPoint</Application>
  <PresentationFormat>Aangepast</PresentationFormat>
  <Paragraphs>96</Paragraphs>
  <Slides>23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7" baseType="lpstr">
      <vt:lpstr>Arial</vt:lpstr>
      <vt:lpstr>Arial MT</vt:lpstr>
      <vt:lpstr>Wingdings</vt:lpstr>
      <vt:lpstr>Office Theme</vt:lpstr>
      <vt:lpstr>Projectverdediging MVP Group 15 Maurits Ampe, Thomas Carlier, Riete De Rouck, Tiebe Roggeman &amp; Maxym Van Den Bogaert </vt:lpstr>
      <vt:lpstr>Overzicht</vt:lpstr>
      <vt:lpstr>Overzicht</vt:lpstr>
      <vt:lpstr>Introductie</vt:lpstr>
      <vt:lpstr>Externe partner</vt:lpstr>
      <vt:lpstr>Onze opdracht</vt:lpstr>
      <vt:lpstr>Overzicht</vt:lpstr>
      <vt:lpstr>Werkwijze</vt:lpstr>
      <vt:lpstr>Hoe zijn we te werk gegaan</vt:lpstr>
      <vt:lpstr>ERD</vt:lpstr>
      <vt:lpstr>UI prototype met Lovable</vt:lpstr>
      <vt:lpstr>UI prototype met Lovable</vt:lpstr>
      <vt:lpstr>UI prototype met Lovable</vt:lpstr>
      <vt:lpstr>Overzicht</vt:lpstr>
      <vt:lpstr>Functionaliteiten app</vt:lpstr>
      <vt:lpstr>Overzicht belangrijkste functionaliteiten</vt:lpstr>
      <vt:lpstr>Complexer algoritme</vt:lpstr>
      <vt:lpstr>Responsiveness</vt:lpstr>
      <vt:lpstr>Overzicht</vt:lpstr>
      <vt:lpstr>Scalability </vt:lpstr>
      <vt:lpstr>Standalone applicatie naar geïntegreerde coachingslaag </vt:lpstr>
      <vt:lpstr>Demo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AlgoEnData-Intro</dc:title>
  <dc:creator>Thomas Carlier</dc:creator>
  <cp:lastModifiedBy>Thomas Carlier</cp:lastModifiedBy>
  <cp:revision>8</cp:revision>
  <dcterms:created xsi:type="dcterms:W3CDTF">2025-12-12T15:54:38Z</dcterms:created>
  <dcterms:modified xsi:type="dcterms:W3CDTF">2025-12-19T18:23:14Z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2025-12-12T00:00:00Z</vt:filetime>
  </property>
  <property fmtid="{D5CDD505-2E9C-101B-9397-08002B2CF9AE}" pid="5" name="Producer">
    <vt:lpwstr>macOS Version 15.6 (Build 24G84) Quartz PDFContext</vt:lpwstr>
  </property>
</Properties>
</file>